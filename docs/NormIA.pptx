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PROYECTO FINAL · DIPLOMA EN DISEÑO E IMPLEMENTACIÓN DE CHATBOTS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SISTEMA DE GESTIÓN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6800" b="1">
                <a:solidFill>
                  <a:srgbClr val="15191A"/>
                </a:solidFill>
                <a:latin typeface="Helvetica Neue"/>
              </a:rPr>
              <a:t>NormIA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012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600" b="0">
                <a:solidFill>
                  <a:srgbClr val="5D6663"/>
                </a:solidFill>
                <a:latin typeface="Helvetica Neue"/>
              </a:rPr>
              <a:t>Un asistente que responde sobre documentación ISO 9001 sin inventar, citando documento, versión y sección.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988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DOCUMENTOS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57984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CLÁUSULAS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1043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0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ÁREAS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MODELO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local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144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EL DOLOR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2529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Saber qué dice un procedimiento cuesta más que cumplirlo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079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Para responder «¿cuánto tiempo tengo para atender un requerimiento?» hay que saber tres cosas antes de leer nada: en qué documento está, cuál es la versión vigente y en qué sección.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132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documentos controlados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En 11 áreas: manuales, políticas, procedimientos, instructivos y formatos.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9930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9386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1043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cláusulas numeradas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respuesta casi nunca es «el documento». Es una cláusula concreta dentro de él.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2932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2388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v1 ≠ v2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el riesgo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Actuar sobre una versión derogada es una no conformidad en auditoría, no un despiste.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7161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Hoy eso se resuelve preguntándole a una persona de Calidad. Cuando esa persona no está, se resuelve adivinando.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 · EVIDENCIA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HALLAZGOS REPORTADOS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778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EVIDENCIA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887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Seis inconsistencias que nadie había detectado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08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No son hipótesis. Salieron al ingerir el SGC real, comparando cada PDF contra la Lista Maestra.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4641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66928" y="233464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DOCUMENTO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334641"/>
            <a:ext cx="8869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SE ENCONTRÓ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72385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718689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CAL-IN-01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2718689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Lista Maestra dice v1; el documento imprime v2 en su propio membrete.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38145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066161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COM-FO-06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3066161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Mal codificado: la Lista Maestra lo registra como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CMC-FO-06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85617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413633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CYP-PR-03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3413633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PDF existe y está en uso, pero no figura en la Lista Maestra.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633089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61104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CTC-FO-09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3761104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Erratas en referencias cruzadas de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CAL-PR-03 §7.4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y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CAL-PR-02 §7.3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056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10857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CSST-FO-16…24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108576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Cinco formatos referenciados por procedimientos vigentes y ausentes de la Lista Maestra.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328033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56048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no existe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61488" y="4456048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Ninguna política de uso de IA, justo cuando se despliega este asistente.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6755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91324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NormIA detecta y avisa; no corrige.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Modificar un documento controlado es competencia del responsable de Calidad.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POR QUÉ SE ELIGIÓ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IMPACTO · VIABILIDAD · VALOR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04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6012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JUSTIFICACIÓN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7101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Por qué este problema y no otro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Impacto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consulta «¿qué dice el procedimiento?» ocurre a diario y consume tiempo de la persona que menos debería dedicarlo a buscar archivos.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887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Viabilidad técnica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ya está escrito en cláusulas numeradas, con código y versión en el membrete. El documento ya viene partido en piezas con sentido propio.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Valor: trazabilidad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Cada respuesta cita documento, versión y sección, y queda auditada por turno: qué se recuperó, a qué distancia y si quedó fundamentada.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Una restricción dura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contiene procedimientos internos y políticas. Nada de eso puede viajar a una API de terceros. Por eso el modelo corre en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HACE · QUÉ NO HACE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961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07008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 que hace, y lo que deliberadamente no hace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36064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Responde sobre documentos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vigentes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citando código, versión y sección.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8645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Consulta el catálogo: «¿tienen políticas de TI?».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6077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Resume un documento y ofrece navegar sus secciones.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43509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Registra hallazgos y consulta el estado de acciones correctivas.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8315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Deriva a Calidad lo que no puede responder, y lo deja en cola.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036064"/>
            <a:ext cx="960120" cy="256032"/>
          </a:xfrm>
          <a:prstGeom prst="roundRect">
            <a:avLst/>
          </a:prstGeom>
          <a:solidFill>
            <a:srgbClr val="F7E6E3"/>
          </a:solidFill>
          <a:ln w="9525">
            <a:solidFill>
              <a:srgbClr val="9E2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9E2B21"/>
                </a:solidFill>
                <a:latin typeface="Helvetica Neue"/>
              </a:rPr>
              <a:t>NO HACE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aprueba, autoriza ni modifica documentos controlados.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71272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responde desde versiones obsoletas.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98704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corrige el SGC del cliente: detecta y avisa.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26136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inventa. Sin respaldo documental, no responde.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53567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sustituye al responsable de Calidad: le pasa el trabajo filtrado.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9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La lista de la derecha no son limitaciones pendientes de resolver. Son el producto: un asistente sobre documentación controlada vale por lo que se niega a decir.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LO DIFERENCIA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06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DIFERENCIAL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Cuatro guardrails, cada uno por un fallo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18897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GUARDRAIL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89760"/>
            <a:ext cx="7269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 FALLO QUE LO MOTIVÓ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2273808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¿Se parece lo suficiente?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Hay un mínimo de parecido; por debajo, no responde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273808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Sin esta comprobación la búsqueda devuelve siempre lo más parecido que encuentre, aunque no tenga nada que 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7492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77312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877312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¿Es la versión vigente?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contrasta con la versión real del documento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877312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Dijo que la política iba por la </a:t>
            </a:r>
            <a:r>
              <a:rPr sz="1000" b="1">
                <a:solidFill>
                  <a:srgbClr val="9E2B21"/>
                </a:solidFill>
                <a:latin typeface="Courier New"/>
              </a:rPr>
              <a:t>v1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cuando va por la v2, contradiciendo el pie que él mismo escribía.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52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480816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480816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¿Existe el documento que cita?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comprueba uno por uno contra la lista real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80816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Citó un procedimiento que no existe. Se lo había copiado al ejemplo de formato de sus propias instrucciones.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563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84320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" y="4084320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¿Tiene en qué apoyarse?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Si no, descarta la respuesta y avisa a Calidad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4084320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Prometía «lo he derivado a Calidad» sin registrar nada. La promesa quedaba vacía.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55980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76097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Cualquiera de los cuatro puede </a:t>
            </a:r>
            <a:r>
              <a:rPr sz="1250" b="1">
                <a:solidFill>
                  <a:srgbClr val="15191A"/>
                </a:solidFill>
                <a:latin typeface="Helvetica Neue"/>
              </a:rPr>
              <a:t>descartar una respuesta ya redactada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. Esa es la diferencia entre un buscador y un asistente sobre documentación auditable.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DOCE CONTROLES EN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07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Y LAS CAPAS QUE NO SE 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Los cuatro descartan. Otros ocho evitan llegar ahí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1648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23164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DÓNDE ACTÚA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2316480"/>
            <a:ext cx="8778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IMPIDE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55422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700528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Antes de buscar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700528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consulta SQL filtra por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documento vigente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 Un documento obsoleto no puede aparecer aunque sea el más parecido: es el control más barato y el que más importa en auditoría.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4858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276600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Al recuperar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8" y="3276600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Umbral propio y más estricto para las preguntas frecuentes. Y penalización a las cláusulas de trámite —Objetivo, Alcance, Responsabilidades— que existen en todos los documentos y ganarían siempre.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2465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52672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Sobre lo que escribe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2928" y="3852672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Se detecta cuando el modelo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repite sus propias instrucciones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en vez de responder, y cuando escribe la llamada a una herramienta dentro del texto. Ambas cosas pasaron; ninguna llega al usuario.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0072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428744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Correr ≠ encontrar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2928" y="4428744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herramienta que devuelve lista vacía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no cuenta como respaldo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 Sin esto, buscar un tema inexistente desactivaba el control de fundamentación y el bot prometía derivar a Calidad sin registrar nada.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876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004816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Sobre los datos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52928" y="5004816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FAQ se valida con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reglas fijas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se rechaza toda cifra o código que no esté literalmente en la cláusula. Y ampliar un hallazgo no crea uno nuevo, para no duplicar no conformidades.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45287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580888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Sobre el servicio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2928" y="5580888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Los tiempos de espera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no se reintentan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—si colgó 45 s, volverá a colgar— y tras tres fallos seguidos se falla de inmediato durante un minuto en vez de que cada usuario pague la espera completa.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0289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USUARIO → CANAL → BOT → MODELO → RESPUESTA → ALMACENAMIENTO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08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COMPONENTES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11057839" cy="48188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6722" y="1389888"/>
            <a:ext cx="571825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60136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15191A"/>
                </a:solidFill>
                <a:latin typeface="Helvetica Neue"/>
              </a:rPr>
              <a:t>Nada sale de la máquina.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El modelo corre en Ollama y los embeddings en local; PostgreSQL guarda documentos, cláusulas, conversaciones, hallazgos y la traza de auditoría.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 · FLUJO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ROJO: ESCALA · VERDE: RESPONDE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09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3444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FLUJO DE UNA CONSULTA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28216"/>
            <a:ext cx="11057839" cy="24389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flujo-consulta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929384"/>
            <a:ext cx="10600639" cy="1780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819688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pregunta se compara </a:t>
            </a:r>
            <a:r>
              <a:rPr sz="1000" b="1">
                <a:solidFill>
                  <a:srgbClr val="15191A"/>
                </a:solidFill>
                <a:latin typeface="Helvetica Neue"/>
              </a:rPr>
              <a:t>a la vez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con las preguntas frecuentes y con las cláusulas vigentes. Después, cuatro puntos de control: en cualquiera de ellos la respuesta se descarta y la consulta pasa a la cola de Calidad.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HERRAMIENTAS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HERRAMIENTAS Y DESPLIEGUE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10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CON QUÉ ESTÁ HECHO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Todo local, todo 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CAPA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89760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1889760"/>
            <a:ext cx="6217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POR QUÉ ESA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Framework de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27380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RAG propio · FastAPI · Python 3.12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227380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Cada paso —troceado, umbral, guardrails— es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código legible y comprobable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una caja negra: se puede explicar por qué el umbral vale lo que vale. 30 módulos y 195 tests.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761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04160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Modelo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8568" y="280416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Qwen3.8 27B · FP4 · vía Ollama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804160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Elegido por medición: acertó cláusula, sección, herramienta y escalación en el banco de pruebas.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064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34512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Comprensión del texto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3334512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BAAI/bge-m3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3334512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Convierte cada cláusula en una huella numérica de su significado: es lo que permite buscar por sentido y no por palabras exactas.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3684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864864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Base de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8568" y="3864864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PostgreSQL 16 · pgvector · unaccent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64864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Guarda documentos, conversaciones y la traza de auditoría, y busca por significado. También ignora los acentos: sin eso, «auditoria» no encontraba «auditoría».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2672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95216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Mensajería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4395216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Widget web · Web Component + Shadow DOM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4395216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etiqueta y un &lt;script&gt;; los estilos del anfitrión no lo tocan. WhatsApp queda para Fase 2.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79755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2556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Despliegue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492556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Docker Compose · uv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13248" y="492556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Local, sin nube: los documentos son internos. Clonar, instalar, configurar .env, ejecutar.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3279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FUENTE · TIPO · VOLUMEN · LIMPIEZA · VALIDACIÓN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3385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De 132 PDFs a 1043 cláusulas consultables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9832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Fuente: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el SGC real de una empresa de servicios, en PDFs controlados.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Tipo: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manuales, políticas, procedimientos, instructivos y formatos, en 11 áreas.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Volumen: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132 documentos → 1043 cláusulas → 730 entradas de FAQ.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LIMPIEZA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Troceado por cláusula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por tamaño fijo: se detecta el encabezado numerado (hasta cuatro niveles) y cada cláusula es un fragmento.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7339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tablas se leen respetando qué valor va con qué columna. Sin eso daba el «tiempo de solución» por el «de respuesta».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21455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Reparación de saltos del PDF: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CAL-FO- 09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→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95775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Una cláusula larga se parte por párrafo, tope de 3000 caracteres y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conservando su número de sección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 Sin solapamiento: el corte ya cae en una frontera con sentido.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VALIDACIÓN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Cada PDF contrastado contra 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Lista Maestra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de ahí salieron los seis hallazgos.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FAQ desde las cláusulas: 489 procesadas →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730 entradas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14 descartadas y 9 duplicadas.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 revisión es con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reglas fijas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pidiéndole a otra IA que juzgue: heredaría los mismos errores.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4295775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preguntas frecuentes ayudan 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encontrar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la cláusula, pero nunca sustituyen la respuesta.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999863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El repositorio no incluye ni un solo documento del cliente.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Viaja con un SGC sintético de 6 documentos que imita la estructura real, para que cualquiera pueda ejecutarlo.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EN FUNCIONAMIENTO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FLUJO FELIZ · FUERA DE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DEMOSTRACIÓN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838" y="1335024"/>
            <a:ext cx="2395074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Flujo feliz.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El dato en negrita; debajo, la referencia con el título por delante y el código y la versión como respaldo.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7871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781" y="1335024"/>
            <a:ext cx="2395074" cy="3529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07327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Fuera de alcance.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Tema ausente del SGC: no inventa, lo dice, deriva a Calidad y marca la respuesta como no verificada.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GRACIAS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686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RESULTADOS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7957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Medido, no estimado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11,1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latencia mediana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38 % más rápida que la primera versión, que estaba en 18,0 s. La máxima bajó de 33,3 s a 20,0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9930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9386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45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techo por consulta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Garantizado. Antes, un cuelgue del modelo hacía esperar hasta 12 minutos, porque reintentaba en vez de rendirse.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2932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195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tests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Los de los guardrails son la tesis: si pasan a rojo, NormIA deja de ser auditable.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Seis hallazgos reportados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Inconsistencias reales del SGC que el sistema detectó al ingerirlo, y que nadie había visto. Fue el primer valor entregado, antes de responder una sola pregunta.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431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Repositorio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github.com/klauzirrazabal-max/normia-chatbot-iso — clonar, uv sync, .env, ejecutar.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3461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