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PROYECTO FINAL · DIPLOMA EN DISEÑO E IMPLEMENTACIÓN DE CHATBOTS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SISTEMA DE GESTIÓN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01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800" b="1">
                <a:solidFill>
                  <a:srgbClr val="15191A"/>
                </a:solidFill>
                <a:latin typeface="Helvetica Neue"/>
              </a:rPr>
              <a:t>NormIA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1012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600" b="0">
                <a:solidFill>
                  <a:srgbClr val="5D6663"/>
                </a:solidFill>
                <a:latin typeface="Helvetica Neue"/>
              </a:rPr>
              <a:t>Un asistente que responde sobre documentación ISO 9001 sin inventar, citando documento, versión y sección.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4988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1" spc="60">
                <a:solidFill>
                  <a:srgbClr val="15191A"/>
                </a:solidFill>
                <a:latin typeface="Helvetica Neue"/>
              </a:rPr>
              <a:t>Klauz Alexander España Irrazabal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956048"/>
            <a:ext cx="1481328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084064"/>
            <a:ext cx="11155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750" b="0" spc="130">
                <a:solidFill>
                  <a:srgbClr val="5D6663"/>
                </a:solidFill>
                <a:latin typeface="Helvetica Neue"/>
              </a:rPr>
              <a:t>DOCUMENTOS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3035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15191A"/>
                </a:solidFill>
                <a:latin typeface="Courier New"/>
              </a:rPr>
              <a:t>132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57984" y="4956048"/>
            <a:ext cx="1481328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5084064"/>
            <a:ext cx="11155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750" b="0" spc="130">
                <a:solidFill>
                  <a:srgbClr val="5D6663"/>
                </a:solidFill>
                <a:latin typeface="Helvetica Neue"/>
              </a:rPr>
              <a:t>CLÁUSULAS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53035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15191A"/>
                </a:solidFill>
                <a:latin typeface="Courier New"/>
              </a:rPr>
              <a:t>1043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40" y="4956048"/>
            <a:ext cx="1481328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5084064"/>
            <a:ext cx="11155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750" b="0" spc="130">
                <a:solidFill>
                  <a:srgbClr val="5D6663"/>
                </a:solidFill>
                <a:latin typeface="Helvetica Neue"/>
              </a:rPr>
              <a:t>ÁREAS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3035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15191A"/>
                </a:solidFill>
                <a:latin typeface="Courier New"/>
              </a:rPr>
              <a:t>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0096" y="4956048"/>
            <a:ext cx="1481328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22976" y="5084064"/>
            <a:ext cx="11155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750" b="0" spc="130">
                <a:solidFill>
                  <a:srgbClr val="5D6663"/>
                </a:solidFill>
                <a:latin typeface="Helvetica Neue"/>
              </a:rPr>
              <a:t>MODELO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2976" y="53035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00" b="1">
                <a:solidFill>
                  <a:srgbClr val="15191A"/>
                </a:solidFill>
                <a:latin typeface="Courier New"/>
              </a:rPr>
              <a:t>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EL DOLOR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25296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5191A"/>
                </a:solidFill>
                <a:latin typeface="Helvetica Neue"/>
              </a:rPr>
              <a:t>Saber qué dice un procedimiento cuesta más que cumplirlo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0792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50" b="0">
                <a:solidFill>
                  <a:srgbClr val="5D6663"/>
                </a:solidFill>
                <a:latin typeface="Helvetica Neue"/>
              </a:rPr>
              <a:t>Para responder «¿cuánto tiempo tengo para atender un requerimiento?» hay que saber tres cosas antes de leer nada: en qué documento está, cuál es la versión vigente y en qué sección.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3090"/>
            <a:ext cx="3551834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315970"/>
            <a:ext cx="3112922" cy="12070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1D5C3C"/>
                </a:solidFill>
                <a:latin typeface="Courier New"/>
              </a:rPr>
              <a:t>132</a:t>
            </a:r>
          </a:p>
          <a:p>
            <a:pPr>
              <a:lnSpc>
                <a:spcPct val="120000"/>
              </a:lnSpc>
            </a:pPr>
            <a:r>
              <a:rPr sz="1150" b="1">
                <a:solidFill>
                  <a:srgbClr val="15191A"/>
                </a:solidFill>
                <a:latin typeface="Helvetica Neue"/>
              </a:rPr>
              <a:t>documentos controlados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En 11 áreas: manuales, políticas, procedimientos, instructivos y formatos.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9930" y="3133090"/>
            <a:ext cx="3551834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9386" y="3315970"/>
            <a:ext cx="3112922" cy="12070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1D5C3C"/>
                </a:solidFill>
                <a:latin typeface="Courier New"/>
              </a:rPr>
              <a:t>1043</a:t>
            </a:r>
          </a:p>
          <a:p>
            <a:pPr>
              <a:lnSpc>
                <a:spcPct val="120000"/>
              </a:lnSpc>
            </a:pPr>
            <a:r>
              <a:rPr sz="1150" b="1">
                <a:solidFill>
                  <a:srgbClr val="15191A"/>
                </a:solidFill>
                <a:latin typeface="Helvetica Neue"/>
              </a:rPr>
              <a:t>cláusulas numeradas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La respuesta casi nunca es «el documento». Es una cláusula concreta dentro de él.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2932" y="3133090"/>
            <a:ext cx="3551834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2388" y="3315970"/>
            <a:ext cx="3112922" cy="12070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1D5C3C"/>
                </a:solidFill>
                <a:latin typeface="Courier New"/>
              </a:rPr>
              <a:t>v1 ≠ v2</a:t>
            </a:r>
          </a:p>
          <a:p>
            <a:pPr>
              <a:lnSpc>
                <a:spcPct val="120000"/>
              </a:lnSpc>
            </a:pPr>
            <a:r>
              <a:rPr sz="1150" b="1">
                <a:solidFill>
                  <a:srgbClr val="15191A"/>
                </a:solidFill>
                <a:latin typeface="Helvetica Neue"/>
              </a:rPr>
              <a:t>el riesgo real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Actuar sobre una versión derogada es una no conformidad en auditoría, no un despiste.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07161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50" b="0">
                <a:solidFill>
                  <a:srgbClr val="5D6663"/>
                </a:solidFill>
                <a:latin typeface="Helvetica Neue"/>
              </a:rPr>
              <a:t>Hoy eso se resuelve preguntándole a una persona de Calidad. Cuando esa persona no está, se resuelve adivinando.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PROBLEMA · EVIDENCIA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HALLAZGOS REPORTADOS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778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EVIDENCIA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1887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5191A"/>
                </a:solidFill>
                <a:latin typeface="Helvetica Neue"/>
              </a:rPr>
              <a:t>Seis inconsistencias que nadie había detectado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0804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50" b="0">
                <a:solidFill>
                  <a:srgbClr val="5D6663"/>
                </a:solidFill>
                <a:latin typeface="Helvetica Neue"/>
              </a:rPr>
              <a:t>No son hipótesis. Salieron al ingerir el SGC real, comparando cada PDF contra la Lista Maestra.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34641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2334641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1" spc="130">
                <a:solidFill>
                  <a:srgbClr val="5D6663"/>
                </a:solidFill>
                <a:latin typeface="Helvetica Neue"/>
              </a:rPr>
              <a:t>DOCUMENTO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334641"/>
            <a:ext cx="8869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1" spc="130">
                <a:solidFill>
                  <a:srgbClr val="5D6663"/>
                </a:solidFill>
                <a:latin typeface="Helvetica Neue"/>
              </a:rPr>
              <a:t>QUÉ SE ENCONTRÓ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72385"/>
            <a:ext cx="11057839" cy="1651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718689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00" b="1">
                <a:solidFill>
                  <a:srgbClr val="1D5C3C"/>
                </a:solidFill>
                <a:latin typeface="Courier New"/>
              </a:rPr>
              <a:t>CAL-IN-01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718689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La Lista Maestra dice v1; el documento imprime v2 en su propio membrete.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38145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066161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00" b="1">
                <a:solidFill>
                  <a:srgbClr val="9E2B21"/>
                </a:solidFill>
                <a:latin typeface="Courier New"/>
              </a:rPr>
              <a:t>COM-FO-06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066161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Mal codificado: la Lista Maestra lo registra como </a:t>
            </a:r>
            <a:r>
              <a:rPr sz="1000" b="1">
                <a:solidFill>
                  <a:srgbClr val="1D5C3C"/>
                </a:solidFill>
                <a:latin typeface="Courier New"/>
              </a:rPr>
              <a:t>CMC-FO-06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285617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413633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00" b="1">
                <a:solidFill>
                  <a:srgbClr val="1D5C3C"/>
                </a:solidFill>
                <a:latin typeface="Courier New"/>
              </a:rPr>
              <a:t>CYP-PR-03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413633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El PDF existe y está en uso, pero no figura en la Lista Maestra.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633089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761104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00" b="1">
                <a:solidFill>
                  <a:srgbClr val="9E2B21"/>
                </a:solidFill>
                <a:latin typeface="Courier New"/>
              </a:rPr>
              <a:t>CTC-FO-09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3761104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Erratas en referencias cruzadas de </a:t>
            </a:r>
            <a:r>
              <a:rPr sz="1000" b="1">
                <a:solidFill>
                  <a:srgbClr val="1D5C3C"/>
                </a:solidFill>
                <a:latin typeface="Courier New"/>
              </a:rPr>
              <a:t>CAL-PR-03 §7.4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 y </a:t>
            </a:r>
            <a:r>
              <a:rPr sz="1000" b="1">
                <a:solidFill>
                  <a:srgbClr val="1D5C3C"/>
                </a:solidFill>
                <a:latin typeface="Courier New"/>
              </a:rPr>
              <a:t>CAL-PR-02 §7.3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980560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108576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00" b="1">
                <a:solidFill>
                  <a:srgbClr val="9E2B21"/>
                </a:solidFill>
                <a:latin typeface="Courier New"/>
              </a:rPr>
              <a:t>CSST-FO-16…24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108576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Cinco formatos referenciados por procedimientos vigentes y ausentes de la Lista Maestra.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328033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456048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00" b="1">
                <a:solidFill>
                  <a:srgbClr val="9E2B21"/>
                </a:solidFill>
                <a:latin typeface="Courier New"/>
              </a:rPr>
              <a:t>no existe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4456048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Ninguna política de uso de IA, justo cuando se despliega este asistente.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75504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91324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50" b="1">
                <a:solidFill>
                  <a:srgbClr val="15191A"/>
                </a:solidFill>
                <a:latin typeface="Helvetica Neue"/>
              </a:rPr>
              <a:t>NormIA detecta y avisa; no corrige.</a:t>
            </a:r>
            <a:r>
              <a:rPr sz="1250" b="0">
                <a:solidFill>
                  <a:srgbClr val="5D6663"/>
                </a:solidFill>
                <a:latin typeface="Helvetica Neue"/>
              </a:rPr>
              <a:t> Modificar un documento controlado es competencia del responsable de Calidad.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POR QUÉ SE ELIGIÓ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IMPACTO · VIABILIDAD ·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JUSTIFICACIÓN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71016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5191A"/>
                </a:solidFill>
                <a:latin typeface="Helvetica Neue"/>
              </a:rPr>
              <a:t>Por qué este problema y no otro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18360"/>
            <a:ext cx="5428335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01240"/>
            <a:ext cx="4989423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15191A"/>
                </a:solidFill>
                <a:latin typeface="Helvetica Neue"/>
              </a:rPr>
              <a:t>Impacto real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La consulta «¿qué dice el procedimiento?» ocurre a diario y consume tiempo de la persona que menos debería dedicarlo a buscar archivos.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2118360"/>
            <a:ext cx="5428335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301240"/>
            <a:ext cx="4989423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15191A"/>
                </a:solidFill>
                <a:latin typeface="Helvetica Neue"/>
              </a:rPr>
              <a:t>Viabilidad técnica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Un SGC ya está escrito en cláusulas numeradas, con código y versión en el membrete. El documento ya viene partido en piezas con sentido propio.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00856"/>
            <a:ext cx="5428335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983736"/>
            <a:ext cx="4989423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15191A"/>
                </a:solidFill>
                <a:latin typeface="Helvetica Neue"/>
              </a:rPr>
              <a:t>Valor: trazabilidad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Cada respuesta cita documento, versión y sección, y queda auditada por turno: qué se recuperó, a qué distancia y si quedó fundamentada.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3800856"/>
            <a:ext cx="5428335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3983736"/>
            <a:ext cx="4989423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15191A"/>
                </a:solidFill>
                <a:latin typeface="Helvetica Neue"/>
              </a:rPr>
              <a:t>Una restricción dura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Un SGC contiene procedimientos internos y políticas. Nada de eso puede viajar a una API de terceros. Por eso el modelo corre en local.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SOLUCIÓN · ALCANCE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QUÉ HACE · QUÉ NO HACE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961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07008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5191A"/>
                </a:solidFill>
                <a:latin typeface="Helvetica Neue"/>
              </a:rPr>
              <a:t>Lo que hace, y lo que deliberadamente no hace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36064"/>
            <a:ext cx="960120" cy="256032"/>
          </a:xfrm>
          <a:prstGeom prst="roundRect">
            <a:avLst/>
          </a:prstGeom>
          <a:solidFill>
            <a:srgbClr val="E3EEE8"/>
          </a:solidFill>
          <a:ln w="9525">
            <a:solidFill>
              <a:srgbClr val="1D5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28000"/>
              </a:lnSpc>
            </a:pPr>
            <a:r>
              <a:rPr sz="900" b="1" spc="130">
                <a:solidFill>
                  <a:srgbClr val="1D5C3C"/>
                </a:solidFill>
                <a:latin typeface="Helvetica Neue"/>
              </a:rPr>
              <a:t>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38400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Responde sobre documentos </a:t>
            </a:r>
            <a:r>
              <a:rPr sz="1050" b="1">
                <a:solidFill>
                  <a:srgbClr val="15191A"/>
                </a:solidFill>
                <a:latin typeface="Helvetica Neue"/>
              </a:rPr>
              <a:t>vigentes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, citando código, versión y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86456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Consulta el catálogo: «¿tienen políticas de TI?».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60776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Resume un documento y ofrece navegar sus secciones.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35096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Registra hallazgos y consulta el estado de acciones correctivas.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83152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Deriva a Calidad lo que no puede responder, y lo deja en cola.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7871" y="2036064"/>
            <a:ext cx="960120" cy="256032"/>
          </a:xfrm>
          <a:prstGeom prst="roundRect">
            <a:avLst/>
          </a:prstGeom>
          <a:solidFill>
            <a:srgbClr val="F7E6E3"/>
          </a:solidFill>
          <a:ln w="9525">
            <a:solidFill>
              <a:srgbClr val="9E2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28000"/>
              </a:lnSpc>
            </a:pPr>
            <a:r>
              <a:rPr sz="900" b="1" spc="130">
                <a:solidFill>
                  <a:srgbClr val="9E2B21"/>
                </a:solidFill>
                <a:latin typeface="Helvetica Neue"/>
              </a:rPr>
              <a:t>NO HACE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2438400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9E2B21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No aprueba, autoriza ni modifica documentos controlados.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751" y="2712720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9E2B21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No responde desde versiones obsoletas.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751" y="2987040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9E2B21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No corrige el SGC del cliente: detecta y avisa.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751" y="3261360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9E2B21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No inventa. Sin respaldo documental, no responde.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3535679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9E2B21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No sustituye al responsable de Calidad: le pasa el trabajo filtrado.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59224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50" b="0">
                <a:solidFill>
                  <a:srgbClr val="5D6663"/>
                </a:solidFill>
                <a:latin typeface="Helvetica Neue"/>
              </a:rPr>
              <a:t>La lista de la derecha no son limitaciones pendientes de resolver. Son el producto: un asistente sobre documentación controlada vale por lo que se niega a decir.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SOLUCIÓN · DIFERENCIAL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QUÉ LO DIFERENCIA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4124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DIFERENCIAL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152144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5191A"/>
                </a:solidFill>
                <a:latin typeface="Helvetica Neue"/>
              </a:rPr>
              <a:t>Cuatro guardrails, cada uno por un fallo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89760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8897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1" spc="130">
                <a:solidFill>
                  <a:srgbClr val="5D6663"/>
                </a:solidFill>
                <a:latin typeface="Helvetica Neue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188976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1" spc="130">
                <a:solidFill>
                  <a:srgbClr val="5D6663"/>
                </a:solidFill>
                <a:latin typeface="Helvetica Neue"/>
              </a:rPr>
              <a:t>GUARDRAIL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89760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1" spc="130">
                <a:solidFill>
                  <a:srgbClr val="5D6663"/>
                </a:solidFill>
                <a:latin typeface="Helvetica Neue"/>
              </a:rPr>
              <a:t>EL FALLO QUE LO MOTIVÓ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27504"/>
            <a:ext cx="11057839" cy="1651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73808"/>
            <a:ext cx="33832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D5C3C"/>
                </a:solidFill>
                <a:latin typeface="Courier New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273808"/>
            <a:ext cx="31272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1">
                <a:solidFill>
                  <a:srgbClr val="15191A"/>
                </a:solidFill>
                <a:latin typeface="Helvetica Neue"/>
              </a:rPr>
              <a:t>¿Se parece lo suficiente?</a:t>
            </a:r>
            <a:r>
              <a:rPr sz="950" b="0">
                <a:solidFill>
                  <a:srgbClr val="5D6663"/>
                </a:solidFill>
                <a:latin typeface="Helvetica Neue"/>
              </a:rPr>
              <a:t>
Hay un mínimo de parecido; por debajo, no responde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273808"/>
            <a:ext cx="710488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Sin esta comprobación la búsqueda devuelve siempre lo más parecido que encuentre, aunque no tenga nada que 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49296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877312"/>
            <a:ext cx="33832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D5C3C"/>
                </a:solidFill>
                <a:latin typeface="Courier New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2877312"/>
            <a:ext cx="31272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1">
                <a:solidFill>
                  <a:srgbClr val="15191A"/>
                </a:solidFill>
                <a:latin typeface="Helvetica Neue"/>
              </a:rPr>
              <a:t>¿Es la versión vigente?</a:t>
            </a:r>
            <a:r>
              <a:rPr sz="950" b="0">
                <a:solidFill>
                  <a:srgbClr val="5D6663"/>
                </a:solidFill>
                <a:latin typeface="Helvetica Neue"/>
              </a:rPr>
              <a:t>
Se contrasta con la versión real del documento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877312"/>
            <a:ext cx="710488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Dijo que la política iba por la </a:t>
            </a:r>
            <a:r>
              <a:rPr sz="1000" b="1">
                <a:solidFill>
                  <a:srgbClr val="9E2B21"/>
                </a:solidFill>
                <a:latin typeface="Courier New"/>
              </a:rPr>
              <a:t>v1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 cuando va por la v2, contradiciendo el pie que él mismo escribía.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52800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480816"/>
            <a:ext cx="33832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D5C3C"/>
                </a:solidFill>
                <a:latin typeface="Courier New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3480816"/>
            <a:ext cx="31272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1">
                <a:solidFill>
                  <a:srgbClr val="15191A"/>
                </a:solidFill>
                <a:latin typeface="Helvetica Neue"/>
              </a:rPr>
              <a:t>¿Existe el documento que cita?</a:t>
            </a:r>
            <a:r>
              <a:rPr sz="950" b="0">
                <a:solidFill>
                  <a:srgbClr val="5D6663"/>
                </a:solidFill>
                <a:latin typeface="Helvetica Neue"/>
              </a:rPr>
              <a:t>
Se comprueba uno por uno contra la lista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480816"/>
            <a:ext cx="710488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Citó un procedimiento que no existe. Se lo había copiado al ejemplo de formato de sus propias instrucciones.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956304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084320"/>
            <a:ext cx="33832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D5C3C"/>
                </a:solidFill>
                <a:latin typeface="Courier New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4084320"/>
            <a:ext cx="31272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1">
                <a:solidFill>
                  <a:srgbClr val="15191A"/>
                </a:solidFill>
                <a:latin typeface="Helvetica Neue"/>
              </a:rPr>
              <a:t>¿Tiene en qué apoyarse?</a:t>
            </a:r>
            <a:r>
              <a:rPr sz="950" b="0">
                <a:solidFill>
                  <a:srgbClr val="5D6663"/>
                </a:solidFill>
                <a:latin typeface="Helvetica Neue"/>
              </a:rPr>
              <a:t>
Si no, descarta la respuesta y avisa a Calidad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084320"/>
            <a:ext cx="710488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Prometía «lo he derivado a Calidad» sin registrar nada. La promesa quedaba vacía.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559808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760976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50" b="0">
                <a:solidFill>
                  <a:srgbClr val="5D6663"/>
                </a:solidFill>
                <a:latin typeface="Helvetica Neue"/>
              </a:rPr>
              <a:t>Cualquiera de los cuatro puede </a:t>
            </a:r>
            <a:r>
              <a:rPr sz="1250" b="1">
                <a:solidFill>
                  <a:srgbClr val="15191A"/>
                </a:solidFill>
                <a:latin typeface="Helvetica Neue"/>
              </a:rPr>
              <a:t>descartar una respuesta ya redactada</a:t>
            </a:r>
            <a:r>
              <a:rPr sz="1250" b="0">
                <a:solidFill>
                  <a:srgbClr val="5D6663"/>
                </a:solidFill>
                <a:latin typeface="Helvetica Neue"/>
              </a:rPr>
              <a:t>. Esa es la diferencia entre un buscador y un asistente sobre documentación auditable.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ARQUITECTURA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USUARIO → CANAL → BOT → MODELO → RESPUESTA → ALMACENAMIENTO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4124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COMPONENTES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11057839" cy="48188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70" y="1389888"/>
            <a:ext cx="5668954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660136"/>
            <a:ext cx="1054577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>
                <a:solidFill>
                  <a:srgbClr val="15191A"/>
                </a:solidFill>
                <a:latin typeface="Helvetica Neue"/>
              </a:rPr>
              <a:t>Nada sale de la máquina.</a:t>
            </a:r>
            <a:r>
              <a:rPr sz="1000" b="0">
                <a:solidFill>
                  <a:srgbClr val="5D6663"/>
                </a:solidFill>
                <a:latin typeface="Helvetica Neue"/>
              </a:rPr>
              <a:t> El modelo corre en Ollama y los embeddings en local; PostgreSQL guarda documentos, cláusulas, conversaciones, hallazgos y la traza de auditoría.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ARQUITECTURA · FLUJO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ROJO: ESCALA · VERDE: RESPONDE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344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FLUJO DE UNA CONSULTA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28216"/>
            <a:ext cx="11057839" cy="2438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flujo-consulta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929384"/>
            <a:ext cx="10600639" cy="17805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3819688"/>
            <a:ext cx="1054577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La pregunta se compara </a:t>
            </a:r>
            <a:r>
              <a:rPr sz="1000" b="1">
                <a:solidFill>
                  <a:srgbClr val="15191A"/>
                </a:solidFill>
                <a:latin typeface="Helvetica Neue"/>
              </a:rPr>
              <a:t>a la vez</a:t>
            </a:r>
            <a:r>
              <a:rPr sz="1000" b="0">
                <a:solidFill>
                  <a:srgbClr val="5D6663"/>
                </a:solidFill>
                <a:latin typeface="Helvetica Neue"/>
              </a:rPr>
              <a:t> con las preguntas frecuentes y con las cláusulas vigentes. Después, cuatro puntos de control: en cualquiera de ellos la respuesta se descarta y la consulta pasa a la cola de Calidad.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HERRAMIENTAS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HERRAMIENTAS Y DESPLIEGUE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4124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CON QUÉ ESTÁ HECHO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152144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5191A"/>
                </a:solidFill>
                <a:latin typeface="Helvetica Neue"/>
              </a:rPr>
              <a:t>Todo local, todo reproducible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89760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889760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1" spc="130">
                <a:solidFill>
                  <a:srgbClr val="5D6663"/>
                </a:solidFill>
                <a:latin typeface="Helvetica Neue"/>
              </a:rPr>
              <a:t>CAPA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1889760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1" spc="130">
                <a:solidFill>
                  <a:srgbClr val="5D6663"/>
                </a:solidFill>
                <a:latin typeface="Helvetica Neue"/>
              </a:rPr>
              <a:t>ELECCIÓN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1889760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1" spc="130">
                <a:solidFill>
                  <a:srgbClr val="5D6663"/>
                </a:solidFill>
                <a:latin typeface="Helvetica Neue"/>
              </a:rPr>
              <a:t>POR QUÉ ESA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27504"/>
            <a:ext cx="11057839" cy="1651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73808"/>
            <a:ext cx="1527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Framework de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273808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RAG propio · FastAPI · Python 3.12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2273808"/>
            <a:ext cx="6053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1">
                <a:solidFill>
                  <a:srgbClr val="15191A"/>
                </a:solidFill>
                <a:latin typeface="Helvetica Neue"/>
              </a:rPr>
              <a:t>Sin LangChain ni LlamaIndex.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 Cada paso —troceado, umbral, guardrails— es código legible y comprobable; un framework habría escondido justo la parte que aporta el valor. 29 módulos, 177 tests.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676144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804160"/>
            <a:ext cx="1527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Modelo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804160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950" b="0">
                <a:solidFill>
                  <a:srgbClr val="15191A"/>
                </a:solidFill>
                <a:latin typeface="Courier New"/>
              </a:rPr>
              <a:t>qwen3.8:27b-mlx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 vía Ollama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804160"/>
            <a:ext cx="6053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Elegido por medición: acertó cláusula, sección, herramienta y escalación en el banco de pruebas.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206496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334512"/>
            <a:ext cx="1527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Comprensión del texto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3334512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950" b="0">
                <a:solidFill>
                  <a:srgbClr val="15191A"/>
                </a:solidFill>
                <a:latin typeface="Courier New"/>
              </a:rPr>
              <a:t>BAAI/bge-m3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3334512"/>
            <a:ext cx="6053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Convierte cada cláusula en una huella numérica de su significado: es lo que permite buscar por sentido y no por palabras exactas.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36848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864864"/>
            <a:ext cx="1527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Base de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58568" y="3864864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PostgreSQL 16 · pgvector · unaccent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3864864"/>
            <a:ext cx="6053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Guarda documentos, conversaciones y la traza de auditoría, y busca por significado. También ignora los acentos: sin eso, «auditoria» no encontraba «auditoría».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267200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395216"/>
            <a:ext cx="1527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Mensajería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8568" y="4395216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Widget web · Web Component + Shadow DOM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4395216"/>
            <a:ext cx="6053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Una etiqueta y un &lt;script&gt;; los estilos del anfitrión no lo tocan. WhatsApp queda para Fase 2.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797552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925568"/>
            <a:ext cx="1527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Despliegue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58568" y="4925568"/>
            <a:ext cx="29900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Docker Compose · uv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13248" y="4925568"/>
            <a:ext cx="60533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50" b="0">
                <a:solidFill>
                  <a:srgbClr val="15191A"/>
                </a:solidFill>
                <a:latin typeface="Helvetica Neue"/>
              </a:rPr>
              <a:t>Local, sin nube: los documentos son internos. Clonar, instalar, configurar .env, ejecutar.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327904"/>
            <a:ext cx="11057839" cy="889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FUENTE · TIPO · VOLUMEN · LIMPIEZA · VALIDACIÓN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229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133856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5191A"/>
                </a:solidFill>
                <a:latin typeface="Helvetica Neue"/>
              </a:rPr>
              <a:t>De 132 PDFs a 1043 cláusulas consultables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9832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1">
                <a:solidFill>
                  <a:srgbClr val="15191A"/>
                </a:solidFill>
                <a:latin typeface="Helvetica Neue"/>
              </a:rPr>
              <a:t>Fuente:</a:t>
            </a:r>
            <a:r>
              <a:rPr sz="1050" b="0">
                <a:solidFill>
                  <a:srgbClr val="5D6663"/>
                </a:solidFill>
                <a:latin typeface="Helvetica Neue"/>
              </a:rPr>
              <a:t> el SGC real de una empresa de servicios, en PDFs controlados.   </a:t>
            </a:r>
            <a:r>
              <a:rPr sz="1050" b="1">
                <a:solidFill>
                  <a:srgbClr val="15191A"/>
                </a:solidFill>
                <a:latin typeface="Helvetica Neue"/>
              </a:rPr>
              <a:t>Tipo:</a:t>
            </a:r>
            <a:r>
              <a:rPr sz="1050" b="0">
                <a:solidFill>
                  <a:srgbClr val="5D6663"/>
                </a:solidFill>
                <a:latin typeface="Helvetica Neue"/>
              </a:rPr>
              <a:t> manuales, políticas, procedimientos, instructivos y formatos, en 11 áreas.   </a:t>
            </a:r>
            <a:r>
              <a:rPr sz="1050" b="1">
                <a:solidFill>
                  <a:srgbClr val="15191A"/>
                </a:solidFill>
                <a:latin typeface="Helvetica Neue"/>
              </a:rPr>
              <a:t>Volumen:</a:t>
            </a:r>
            <a:r>
              <a:rPr sz="1050" b="0">
                <a:solidFill>
                  <a:srgbClr val="5D6663"/>
                </a:solidFill>
                <a:latin typeface="Helvetica Neue"/>
              </a:rPr>
              <a:t> 132 documentos → 1043 cláusulas → 730 entradas de FAQ.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49271"/>
            <a:ext cx="960120" cy="256032"/>
          </a:xfrm>
          <a:prstGeom prst="roundRect">
            <a:avLst/>
          </a:prstGeom>
          <a:solidFill>
            <a:srgbClr val="E3EEE8"/>
          </a:solidFill>
          <a:ln w="9525">
            <a:solidFill>
              <a:srgbClr val="1D5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28000"/>
              </a:lnSpc>
            </a:pPr>
            <a:r>
              <a:rPr sz="900" b="1" spc="130">
                <a:solidFill>
                  <a:srgbClr val="1D5C3C"/>
                </a:solidFill>
                <a:latin typeface="Helvetica Neue"/>
              </a:rPr>
              <a:t>LIMPIEZA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51607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1">
                <a:solidFill>
                  <a:srgbClr val="15191A"/>
                </a:solidFill>
                <a:latin typeface="Helvetica Neue"/>
              </a:rPr>
              <a:t>Troceado por cláusula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, no por tamaño fijo: la unidad de sentido es la cláusula.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99663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Las tablas se leen respetando qué valor va con qué columna. Sin eso daba el «tiempo de solución» por el «de respuesta».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847719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Reparación de saltos del PDF: </a:t>
            </a:r>
            <a:r>
              <a:rPr sz="1050" b="0">
                <a:solidFill>
                  <a:srgbClr val="15191A"/>
                </a:solidFill>
                <a:latin typeface="Courier New"/>
              </a:rPr>
              <a:t>CAL-FO- 09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 → </a:t>
            </a:r>
            <a:r>
              <a:rPr sz="1050" b="0">
                <a:solidFill>
                  <a:srgbClr val="15191A"/>
                </a:solidFill>
                <a:latin typeface="Courier New"/>
              </a:rPr>
              <a:t>CAL-FO-09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22039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Aviso cuando una cláusula </a:t>
            </a:r>
            <a:r>
              <a:rPr sz="1050" b="1">
                <a:solidFill>
                  <a:srgbClr val="15191A"/>
                </a:solidFill>
                <a:latin typeface="Helvetica Neue"/>
              </a:rPr>
              <a:t>anuncia sin entregar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: el contenido está en una imagen.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7871" y="2549271"/>
            <a:ext cx="960120" cy="256032"/>
          </a:xfrm>
          <a:prstGeom prst="roundRect">
            <a:avLst/>
          </a:prstGeom>
          <a:solidFill>
            <a:srgbClr val="E3EEE8"/>
          </a:solidFill>
          <a:ln w="9525">
            <a:solidFill>
              <a:srgbClr val="1D5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28000"/>
              </a:lnSpc>
            </a:pPr>
            <a:r>
              <a:rPr sz="900" b="1" spc="130">
                <a:solidFill>
                  <a:srgbClr val="1D5C3C"/>
                </a:solidFill>
                <a:latin typeface="Helvetica Neue"/>
              </a:rPr>
              <a:t>VALIDACIÓN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2951607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Cada PDF contrastado contra la </a:t>
            </a:r>
            <a:r>
              <a:rPr sz="1050" b="1">
                <a:solidFill>
                  <a:srgbClr val="15191A"/>
                </a:solidFill>
                <a:latin typeface="Helvetica Neue"/>
              </a:rPr>
              <a:t>Lista Maestra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: de ahí salieron los seis hallazgos.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0751" y="3399663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FAQ desde las cláusulas: 489 procesadas → </a:t>
            </a:r>
            <a:r>
              <a:rPr sz="1050" b="1">
                <a:solidFill>
                  <a:srgbClr val="15191A"/>
                </a:solidFill>
                <a:latin typeface="Helvetica Neue"/>
              </a:rPr>
              <a:t>730 entradas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, 14 descartadas y 9 duplicadas.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751" y="3847719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La revisión es con </a:t>
            </a:r>
            <a:r>
              <a:rPr sz="1050" b="1">
                <a:solidFill>
                  <a:srgbClr val="15191A"/>
                </a:solidFill>
                <a:latin typeface="Helvetica Neue"/>
              </a:rPr>
              <a:t>reglas fijas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, no pidiéndole a otra IA que juzgue: heredaría los mismos errores.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751" y="4295775"/>
            <a:ext cx="508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5C3C"/>
                </a:solidFill>
                <a:latin typeface="Helvetica Neue"/>
              </a:rPr>
              <a:t>— 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Las preguntas frecuentes ayudan a </a:t>
            </a:r>
            <a:r>
              <a:rPr sz="1050" b="1">
                <a:solidFill>
                  <a:srgbClr val="15191A"/>
                </a:solidFill>
                <a:latin typeface="Helvetica Neue"/>
              </a:rPr>
              <a:t>encontrar</a:t>
            </a:r>
            <a:r>
              <a:rPr sz="1050" b="0">
                <a:solidFill>
                  <a:srgbClr val="15191A"/>
                </a:solidFill>
                <a:latin typeface="Helvetica Neue"/>
              </a:rPr>
              <a:t> la cláusula, pero nunca sustituyen la respuesta.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999863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50" b="1">
                <a:solidFill>
                  <a:srgbClr val="15191A"/>
                </a:solidFill>
                <a:latin typeface="Helvetica Neue"/>
              </a:rPr>
              <a:t>El repositorio no incluye ni un solo documento del cliente.</a:t>
            </a:r>
            <a:r>
              <a:rPr sz="1250" b="0">
                <a:solidFill>
                  <a:srgbClr val="5D6663"/>
                </a:solidFill>
                <a:latin typeface="Helvetica Neue"/>
              </a:rPr>
              <a:t> Viaja con un SGC sintético de 6 documentos que imita la estructura real, para que cualquiera pueda ejecutarlo.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EN FUNCIONAMIENTO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FLUJO FELIZ · FUERA DE ALCANCE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229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DEMOSTRACIÓN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5336895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838" y="1335024"/>
            <a:ext cx="2395074" cy="3529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4992624"/>
            <a:ext cx="48979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1">
                <a:solidFill>
                  <a:srgbClr val="15191A"/>
                </a:solidFill>
                <a:latin typeface="Helvetica Neue"/>
              </a:rPr>
              <a:t>Flujo feliz.</a:t>
            </a:r>
            <a:r>
              <a:rPr sz="950" b="0">
                <a:solidFill>
                  <a:srgbClr val="5D6663"/>
                </a:solidFill>
                <a:latin typeface="Helvetica Neue"/>
              </a:rPr>
              <a:t> El dato en negrita; debajo, la referencia con el título por delante y el código y la versión como respaldo.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7871" y="1170432"/>
            <a:ext cx="5336895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u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781" y="1335024"/>
            <a:ext cx="2395074" cy="3529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07327" y="4992624"/>
            <a:ext cx="48979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1">
                <a:solidFill>
                  <a:srgbClr val="15191A"/>
                </a:solidFill>
                <a:latin typeface="Helvetica Neue"/>
              </a:rPr>
              <a:t>Fuera de alcance.</a:t>
            </a:r>
            <a:r>
              <a:rPr sz="950" b="0">
                <a:solidFill>
                  <a:srgbClr val="5D6663"/>
                </a:solidFill>
                <a:latin typeface="Helvetica Neue"/>
              </a:rPr>
              <a:t> Tema ausente del SGC: no inventa, lo dice, deriva a Calidad y marca la respuesta como no verificada.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1" spc="140">
                <a:solidFill>
                  <a:srgbClr val="1D5C3C"/>
                </a:solidFill>
                <a:latin typeface="Courier New"/>
              </a:rPr>
              <a:t>NORMIA ·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8207" y="36576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40">
                <a:solidFill>
                  <a:srgbClr val="5D6663"/>
                </a:solidFill>
                <a:latin typeface="Helvetica Neue"/>
              </a:rPr>
              <a:t>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40080"/>
            <a:ext cx="11057839" cy="17780"/>
          </a:xfrm>
          <a:prstGeom prst="rect">
            <a:avLst/>
          </a:prstGeom>
          <a:solidFill>
            <a:srgbClr val="B6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217920"/>
            <a:ext cx="11057839" cy="11430"/>
          </a:xfrm>
          <a:prstGeom prst="rect">
            <a:avLst/>
          </a:prstGeom>
          <a:solidFill>
            <a:srgbClr val="C5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9107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 spc="110">
                <a:solidFill>
                  <a:srgbClr val="5D6663"/>
                </a:solidFill>
                <a:latin typeface="Helvetica Neue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087" y="629107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900" b="0" spc="110">
                <a:solidFill>
                  <a:srgbClr val="5D6663"/>
                </a:solidFill>
                <a:latin typeface="Courier New"/>
              </a:rP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6868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00" b="1" spc="170">
                <a:solidFill>
                  <a:srgbClr val="1D5C3C"/>
                </a:solidFill>
                <a:latin typeface="Helvetica Neue"/>
              </a:rPr>
              <a:t>RESULTADOS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179576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15191A"/>
                </a:solidFill>
                <a:latin typeface="Helvetica Neue"/>
              </a:rPr>
              <a:t>Medido, no estimado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08632"/>
            <a:ext cx="3551834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191512"/>
            <a:ext cx="311292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1D5C3C"/>
                </a:solidFill>
                <a:latin typeface="Courier New"/>
              </a:rPr>
              <a:t>11,1 s</a:t>
            </a:r>
          </a:p>
          <a:p>
            <a:pPr>
              <a:lnSpc>
                <a:spcPct val="120000"/>
              </a:lnSpc>
            </a:pPr>
            <a:r>
              <a:rPr sz="1150" b="1">
                <a:solidFill>
                  <a:srgbClr val="15191A"/>
                </a:solidFill>
                <a:latin typeface="Helvetica Neue"/>
              </a:rPr>
              <a:t>latencia mediana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Un 38 % más rápida que la primera versión, que estaba en 18,0 s. La máxima bajó de 33,3 s a 20,0 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9930" y="2008632"/>
            <a:ext cx="3551834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9386" y="2191512"/>
            <a:ext cx="311292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1D5C3C"/>
                </a:solidFill>
                <a:latin typeface="Courier New"/>
              </a:rPr>
              <a:t>45 s</a:t>
            </a:r>
          </a:p>
          <a:p>
            <a:pPr>
              <a:lnSpc>
                <a:spcPct val="120000"/>
              </a:lnSpc>
            </a:pPr>
            <a:r>
              <a:rPr sz="1150" b="1">
                <a:solidFill>
                  <a:srgbClr val="15191A"/>
                </a:solidFill>
                <a:latin typeface="Helvetica Neue"/>
              </a:rPr>
              <a:t>techo por consulta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Garantizado. Antes, un cuelgue del modelo hacía esperar hasta 12 minutos, porque reintentaba en vez de rendirse.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2932" y="2008632"/>
            <a:ext cx="3551834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191512"/>
            <a:ext cx="311292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1D5C3C"/>
                </a:solidFill>
                <a:latin typeface="Courier New"/>
              </a:rPr>
              <a:t>195</a:t>
            </a:r>
          </a:p>
          <a:p>
            <a:pPr>
              <a:lnSpc>
                <a:spcPct val="120000"/>
              </a:lnSpc>
            </a:pPr>
            <a:r>
              <a:rPr sz="1150" b="1">
                <a:solidFill>
                  <a:srgbClr val="15191A"/>
                </a:solidFill>
                <a:latin typeface="Helvetica Neue"/>
              </a:rPr>
              <a:t>tests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Los de los guardrails son la tesis: si pasan a rojo, NormIA deja de ser auditable.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73424"/>
            <a:ext cx="5428335" cy="1188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956304"/>
            <a:ext cx="498942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15191A"/>
                </a:solidFill>
                <a:latin typeface="Helvetica Neue"/>
              </a:rPr>
              <a:t>Seis hallazgos reportados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Inconsistencias reales del SGC que el sistema detectó al ingerirlo, y que nadie había visto. Fue el primer valor entregado, antes de responder una sola pregunta.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3773424"/>
            <a:ext cx="5428335" cy="1188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5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3956304"/>
            <a:ext cx="498942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15191A"/>
                </a:solidFill>
                <a:latin typeface="Helvetica Neue"/>
              </a:rPr>
              <a:t>Repositorio</a:t>
            </a:r>
          </a:p>
          <a:p>
            <a:pPr>
              <a:lnSpc>
                <a:spcPct val="128000"/>
              </a:lnSpc>
            </a:pPr>
            <a:r>
              <a:rPr sz="1000" b="0">
                <a:solidFill>
                  <a:srgbClr val="5D6663"/>
                </a:solidFill>
                <a:latin typeface="Helvetica Neue"/>
              </a:rPr>
              <a:t>github.com/klauzirrazabal-max/normia-chatbot-iso — clonar, uv sync, .env, ejecutar.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346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50" b="1" spc="60">
                <a:solidFill>
                  <a:srgbClr val="15191A"/>
                </a:solidFill>
                <a:latin typeface="Helvetica Neue"/>
              </a:rPr>
              <a:t>Klauz Alexander España Irrazabal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