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PROYECTO FINAL · DIPLOMA EN DISEÑO E IMPLEMENTACIÓN DE CHATBOTS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SISTEMA DE GESTIÓN DE CALIDAD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01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74519"/>
            <a:ext cx="91440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6800" b="1">
                <a:solidFill>
                  <a:srgbClr val="15191A"/>
                </a:solidFill>
                <a:latin typeface="Helvetica Neue"/>
              </a:rPr>
              <a:t>NormIA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310128"/>
            <a:ext cx="69494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8000"/>
              </a:lnSpc>
            </a:pPr>
            <a:r>
              <a:rPr sz="1600" b="0">
                <a:solidFill>
                  <a:srgbClr val="5D6663"/>
                </a:solidFill>
                <a:latin typeface="Helvetica Neue"/>
              </a:rPr>
              <a:t>Un asistente que responde sobre documentación ISO 9001 sin inventar, citando documento, versión y sección.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4988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250" b="1" spc="60">
                <a:solidFill>
                  <a:srgbClr val="15191A"/>
                </a:solidFill>
                <a:latin typeface="Helvetica Neue"/>
              </a:rPr>
              <a:t>Klauz Alexander España Irrazabal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956048"/>
            <a:ext cx="1481328" cy="71323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5084064"/>
            <a:ext cx="11155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750" b="0" spc="130">
                <a:solidFill>
                  <a:srgbClr val="5D6663"/>
                </a:solidFill>
                <a:latin typeface="Helvetica Neue"/>
              </a:rPr>
              <a:t>DOCUMENTOS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5303520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300" b="1">
                <a:solidFill>
                  <a:srgbClr val="15191A"/>
                </a:solidFill>
                <a:latin typeface="Courier New"/>
              </a:rPr>
              <a:t>132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57984" y="4956048"/>
            <a:ext cx="1481328" cy="71323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40864" y="5084064"/>
            <a:ext cx="11155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750" b="0" spc="130">
                <a:solidFill>
                  <a:srgbClr val="5D6663"/>
                </a:solidFill>
                <a:latin typeface="Helvetica Neue"/>
              </a:rPr>
              <a:t>CLÁUSULAS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40864" y="5303520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300" b="1">
                <a:solidFill>
                  <a:srgbClr val="15191A"/>
                </a:solidFill>
                <a:latin typeface="Courier New"/>
              </a:rPr>
              <a:t>1043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40" y="4956048"/>
            <a:ext cx="1481328" cy="71323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31920" y="5084064"/>
            <a:ext cx="11155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750" b="0" spc="130">
                <a:solidFill>
                  <a:srgbClr val="5D6663"/>
                </a:solidFill>
                <a:latin typeface="Helvetica Neue"/>
              </a:rPr>
              <a:t>ÁREAS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5303520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300" b="1">
                <a:solidFill>
                  <a:srgbClr val="15191A"/>
                </a:solidFill>
                <a:latin typeface="Courier New"/>
              </a:rPr>
              <a:t>11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40096" y="4956048"/>
            <a:ext cx="1481328" cy="71323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22976" y="5084064"/>
            <a:ext cx="11155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750" b="0" spc="130">
                <a:solidFill>
                  <a:srgbClr val="5D6663"/>
                </a:solidFill>
                <a:latin typeface="Helvetica Neue"/>
              </a:rPr>
              <a:t>MODELO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22976" y="5303520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300" b="1">
                <a:solidFill>
                  <a:srgbClr val="15191A"/>
                </a:solidFill>
                <a:latin typeface="Courier New"/>
              </a:rPr>
              <a:t>local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PROBLEMA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CONTEXTO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02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91440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EL DOLOR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25296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Saber qué dice un procedimiento cuesta más que cumplirlo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407920"/>
            <a:ext cx="9509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>
                <a:solidFill>
                  <a:srgbClr val="5D6663"/>
                </a:solidFill>
                <a:latin typeface="Helvetica Neue"/>
              </a:rPr>
              <a:t>Para responder «¿cuánto tiempo tengo para atender un requerimiento?» hay que saber tres cosas antes de leer nada: en qué documento está, cuál es la versión vigente y en qué sección.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133090"/>
            <a:ext cx="3551834" cy="15727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3315970"/>
            <a:ext cx="3112922" cy="12070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1D5C3C"/>
                </a:solidFill>
                <a:latin typeface="Courier New"/>
              </a:rPr>
              <a:t>132</a:t>
            </a:r>
          </a:p>
          <a:p>
            <a:pPr>
              <a:lnSpc>
                <a:spcPct val="120000"/>
              </a:lnSpc>
            </a:pPr>
            <a:r>
              <a:rPr sz="1150" b="1">
                <a:solidFill>
                  <a:srgbClr val="15191A"/>
                </a:solidFill>
                <a:latin typeface="Helvetica Neue"/>
              </a:rPr>
              <a:t>documentos controlados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En 11 áreas: manuales, políticas, procedimientos, instructivos y formatos.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9930" y="3133090"/>
            <a:ext cx="3551834" cy="15727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9386" y="3315970"/>
            <a:ext cx="3112922" cy="12070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1D5C3C"/>
                </a:solidFill>
                <a:latin typeface="Courier New"/>
              </a:rPr>
              <a:t>1043</a:t>
            </a:r>
          </a:p>
          <a:p>
            <a:pPr>
              <a:lnSpc>
                <a:spcPct val="120000"/>
              </a:lnSpc>
            </a:pPr>
            <a:r>
              <a:rPr sz="1150" b="1">
                <a:solidFill>
                  <a:srgbClr val="15191A"/>
                </a:solidFill>
                <a:latin typeface="Helvetica Neue"/>
              </a:rPr>
              <a:t>cláusulas numeradas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La respuesta casi nunca es «el documento». Es una cláusula concreta dentro de él.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2932" y="3133090"/>
            <a:ext cx="3551834" cy="15727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2388" y="3315970"/>
            <a:ext cx="3112922" cy="12070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1D5C3C"/>
                </a:solidFill>
                <a:latin typeface="Courier New"/>
              </a:rPr>
              <a:t>v1 ≠ v2</a:t>
            </a:r>
          </a:p>
          <a:p>
            <a:pPr>
              <a:lnSpc>
                <a:spcPct val="120000"/>
              </a:lnSpc>
            </a:pPr>
            <a:r>
              <a:rPr sz="1150" b="1">
                <a:solidFill>
                  <a:srgbClr val="15191A"/>
                </a:solidFill>
                <a:latin typeface="Helvetica Neue"/>
              </a:rPr>
              <a:t>el riesgo real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Actuar sobre una versión derogada es una no conformidad en auditoría, no un despiste.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071618"/>
            <a:ext cx="9509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>
                <a:solidFill>
                  <a:srgbClr val="5D6663"/>
                </a:solidFill>
                <a:latin typeface="Helvetica Neue"/>
              </a:rPr>
              <a:t>Hoy eso se resuelve preguntándole a una persona de Calidad. Cuando esa persona no está, se resuelve adivinando.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PROBLEMA · EVIDENCIA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HALLAZGOS REPORTADOS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03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7782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EVIDENCIA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18872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Seis inconsistencias que nadie había detectado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908048"/>
            <a:ext cx="9509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>
                <a:solidFill>
                  <a:srgbClr val="5D6663"/>
                </a:solidFill>
                <a:latin typeface="Helvetica Neue"/>
              </a:rPr>
              <a:t>No son hipótesis. Salieron al ingerir el SGC real, comparando cada PDF contra la Lista Maestra.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334641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66928" y="2334641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DOCUMENTO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61488" y="2334641"/>
            <a:ext cx="8869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QUÉ SE ENCONTRÓ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572385"/>
            <a:ext cx="11057839" cy="1651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718689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00" b="1">
                <a:solidFill>
                  <a:srgbClr val="1D5C3C"/>
                </a:solidFill>
                <a:latin typeface="Courier New"/>
              </a:rPr>
              <a:t>CAL-IN-01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61488" y="2718689"/>
            <a:ext cx="8705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La Lista Maestra dice v1; el documento imprime v2 en su propio membrete.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938145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3066161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00" b="1">
                <a:solidFill>
                  <a:srgbClr val="9E2B21"/>
                </a:solidFill>
                <a:latin typeface="Courier New"/>
              </a:rPr>
              <a:t>COM-FO-06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61488" y="3066161"/>
            <a:ext cx="8705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Mal codificado: la Lista Maestra lo registra como </a:t>
            </a:r>
            <a:r>
              <a:rPr sz="1000" b="1">
                <a:solidFill>
                  <a:srgbClr val="1D5C3C"/>
                </a:solidFill>
                <a:latin typeface="Courier New"/>
              </a:rPr>
              <a:t>CMC-FO-06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285617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3413633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00" b="1">
                <a:solidFill>
                  <a:srgbClr val="1D5C3C"/>
                </a:solidFill>
                <a:latin typeface="Courier New"/>
              </a:rPr>
              <a:t>CYP-PR-03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61488" y="3413633"/>
            <a:ext cx="8705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El PDF existe y está en uso, pero no figura en la Lista Maestra.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3633089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3761104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00" b="1">
                <a:solidFill>
                  <a:srgbClr val="9E2B21"/>
                </a:solidFill>
                <a:latin typeface="Courier New"/>
              </a:rPr>
              <a:t>CTC-FO-09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61488" y="3761104"/>
            <a:ext cx="8705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Erratas en referencias cruzadas de </a:t>
            </a:r>
            <a:r>
              <a:rPr sz="1000" b="1">
                <a:solidFill>
                  <a:srgbClr val="1D5C3C"/>
                </a:solidFill>
                <a:latin typeface="Courier New"/>
              </a:rPr>
              <a:t>CAL-PR-03 §7.4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y </a:t>
            </a:r>
            <a:r>
              <a:rPr sz="1000" b="1">
                <a:solidFill>
                  <a:srgbClr val="1D5C3C"/>
                </a:solidFill>
                <a:latin typeface="Courier New"/>
              </a:rPr>
              <a:t>CAL-PR-02 §7.3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980560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4108576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00" b="1">
                <a:solidFill>
                  <a:srgbClr val="9E2B21"/>
                </a:solidFill>
                <a:latin typeface="Courier New"/>
              </a:rPr>
              <a:t>CSST-FO-16…24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61488" y="4108576"/>
            <a:ext cx="8705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Cinco formatos referenciados por procedimientos vigentes y ausentes de la Lista Maestra.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4328033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4456048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00" b="1">
                <a:solidFill>
                  <a:srgbClr val="9E2B21"/>
                </a:solidFill>
                <a:latin typeface="Courier New"/>
              </a:rPr>
              <a:t>no existe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61488" y="4456048"/>
            <a:ext cx="8705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Ninguna política de uso de IA, justo cuando se despliega este asistente.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4675504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4913248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NormIA detecta y avisa; no corrige.</a:t>
            </a:r>
            <a:r>
              <a:rPr sz="1250" b="0">
                <a:solidFill>
                  <a:srgbClr val="5D6663"/>
                </a:solidFill>
                <a:latin typeface="Helvetica Neue"/>
              </a:rPr>
              <a:t> Modificar un documento controlado es competencia del responsable de Calidad.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POR QUÉ SE ELIGIÓ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IMPACTO · VIABILIDAD · VALOR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04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96012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JUSTIFICACIÓN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71016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Un corpus que ya venía hecho para esto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118360"/>
            <a:ext cx="5428335" cy="14813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301240"/>
            <a:ext cx="4989423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Impacto real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La consulta «¿qué dice el procedimiento?» ocurre a diario y consume tiempo de la persona que menos debería dedicarlo a buscar archivos.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6431" y="2118360"/>
            <a:ext cx="5428335" cy="14813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5887" y="2301240"/>
            <a:ext cx="4989423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Viabilidad técnica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Un SGC ya está escrito en cláusulas numeradas, con código y versión en el membrete. La unidad de sentido viene delimitada de fábrica.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800856"/>
            <a:ext cx="5428335" cy="14813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3983736"/>
            <a:ext cx="4989423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Valor: trazabilidad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Cada respuesta cita documento, versión y sección, y queda auditada por turno: qué se recuperó, a qué distancia y si quedó fundamentada.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6431" y="3800856"/>
            <a:ext cx="5428335" cy="14813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5887" y="3983736"/>
            <a:ext cx="4989423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Una restricción dura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Un SGC contiene procedimientos internos y políticas. Nada de eso puede viajar a una API de terceros. Por eso el modelo corre en local.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SOLUCIÓN · ALCANCE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QUÉ HACE · QUÉ NO HACE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05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96112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ALCANCE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07008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Lo que hace, y lo que deliberadamente no hace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036064"/>
            <a:ext cx="960120" cy="256032"/>
          </a:xfrm>
          <a:prstGeom prst="roundRect">
            <a:avLst/>
          </a:prstGeom>
          <a:solidFill>
            <a:srgbClr val="E3EEE8"/>
          </a:solidFill>
          <a:ln w="9525">
            <a:solidFill>
              <a:srgbClr val="1D5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28000"/>
              </a:lnSpc>
            </a:pPr>
            <a:r>
              <a:rPr sz="900" b="1" spc="130">
                <a:solidFill>
                  <a:srgbClr val="1D5C3C"/>
                </a:solidFill>
                <a:latin typeface="Helvetica Neue"/>
              </a:rPr>
              <a:t>HACE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438400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Responde sobre documentos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vigentes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, citando código, versión y sección.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886456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Consulta el catálogo: «¿tienen políticas de TI?».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160776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Resume un documento y ofrece navegar sus secciones.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3435096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Registra hallazgos y consulta el estado de acciones correctivas.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883152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Deriva a Calidad lo que no puede responder, y lo deja en cola.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87871" y="2036064"/>
            <a:ext cx="960120" cy="256032"/>
          </a:xfrm>
          <a:prstGeom prst="roundRect">
            <a:avLst/>
          </a:prstGeom>
          <a:solidFill>
            <a:srgbClr val="F7E6E3"/>
          </a:solidFill>
          <a:ln w="9525">
            <a:solidFill>
              <a:srgbClr val="9E2B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28000"/>
              </a:lnSpc>
            </a:pPr>
            <a:r>
              <a:rPr sz="900" b="1" spc="130">
                <a:solidFill>
                  <a:srgbClr val="9E2B21"/>
                </a:solidFill>
                <a:latin typeface="Helvetica Neue"/>
              </a:rPr>
              <a:t>NO HACE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0751" y="2438400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9E2B21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No aprueba, autoriza ni modifica documentos controlados.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0751" y="2712720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9E2B21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No responde desde versiones obsoletas.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0751" y="2987040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9E2B21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No corrige el SGC del cliente: detecta y avisa.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0751" y="3261360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9E2B21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No inventa. Sin respaldo documental, no responde.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0751" y="3535679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9E2B21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No sustituye al responsable de Calidad: le pasa el trabajo filtrado.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459224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>
                <a:solidFill>
                  <a:srgbClr val="5D6663"/>
                </a:solidFill>
                <a:latin typeface="Helvetica Neue"/>
              </a:rPr>
              <a:t>La lista de la derecha no son limitaciones pendientes de resolver. Son el producto: un asistente sobre documentación controlada vale por lo que se niega a decir.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SOLUCIÓN · DIFERENCIAL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QUÉ LO DIFERENCIA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06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41248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DIFERENCIAL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152144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Cuatro guardrails, cada uno por un fallo real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889760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66928" y="1889760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18897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GUARDRAIL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1688" y="1889760"/>
            <a:ext cx="7269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EL FALLO QUE LO MOTIVÓ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127504"/>
            <a:ext cx="11057839" cy="1651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273808"/>
            <a:ext cx="33832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200" b="1">
                <a:solidFill>
                  <a:srgbClr val="1D5C3C"/>
                </a:solidFill>
                <a:latin typeface="Courier New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2273808"/>
            <a:ext cx="312724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Umbral semántico</a:t>
            </a:r>
            <a:r>
              <a:rPr sz="950" b="0">
                <a:solidFill>
                  <a:srgbClr val="5D6663"/>
                </a:solidFill>
                <a:latin typeface="Helvetica Neue"/>
              </a:rPr>
              <a:t>
Distancia 0.49 + margen relativo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2273808"/>
            <a:ext cx="710488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Sin él, </a:t>
            </a:r>
            <a:r>
              <a:rPr sz="950" b="0">
                <a:solidFill>
                  <a:srgbClr val="15191A"/>
                </a:solidFill>
                <a:latin typeface="Courier New"/>
              </a:rPr>
              <a:t>ORDER BY distancia LIMIT k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siempre devuelve algo, por irrelevante que sea.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749296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877312"/>
            <a:ext cx="33832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200" b="1">
                <a:solidFill>
                  <a:srgbClr val="1D5C3C"/>
                </a:solidFill>
                <a:latin typeface="Courier New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2877312"/>
            <a:ext cx="312724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Versión citada</a:t>
            </a:r>
            <a:r>
              <a:rPr sz="950" b="0">
                <a:solidFill>
                  <a:srgbClr val="5D6663"/>
                </a:solidFill>
                <a:latin typeface="Helvetica Neue"/>
              </a:rPr>
              <a:t>
Se corrige contra la versión real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2877312"/>
            <a:ext cx="710488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Escribió </a:t>
            </a:r>
            <a:r>
              <a:rPr sz="1000" b="1">
                <a:solidFill>
                  <a:srgbClr val="9E2B21"/>
                </a:solidFill>
                <a:latin typeface="Courier New"/>
              </a:rPr>
              <a:t>STI-PO-01 v1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estando en v2, contradiciendo el pie que él mismo generaba.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352800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480816"/>
            <a:ext cx="33832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200" b="1">
                <a:solidFill>
                  <a:srgbClr val="1D5C3C"/>
                </a:solidFill>
                <a:latin typeface="Courier New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848" y="3480816"/>
            <a:ext cx="312724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Código citado</a:t>
            </a:r>
            <a:r>
              <a:rPr sz="950" b="0">
                <a:solidFill>
                  <a:srgbClr val="5D6663"/>
                </a:solidFill>
                <a:latin typeface="Helvetica Neue"/>
              </a:rPr>
              <a:t>
Verificación documento a documento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1688" y="3480816"/>
            <a:ext cx="710488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Citó </a:t>
            </a:r>
            <a:r>
              <a:rPr sz="1000" b="1">
                <a:solidFill>
                  <a:srgbClr val="9E2B21"/>
                </a:solidFill>
                <a:latin typeface="Courier New"/>
              </a:rPr>
              <a:t>PROC-CAL-04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, que no existe: venía del ejemplo de formato del propio prompt.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956304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4084320"/>
            <a:ext cx="33832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200" b="1">
                <a:solidFill>
                  <a:srgbClr val="1D5C3C"/>
                </a:solidFill>
                <a:latin typeface="Courier New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9848" y="4084320"/>
            <a:ext cx="312724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Fundamentación</a:t>
            </a:r>
            <a:r>
              <a:rPr sz="950" b="0">
                <a:solidFill>
                  <a:srgbClr val="5D6663"/>
                </a:solidFill>
                <a:latin typeface="Helvetica Neue"/>
              </a:rPr>
              <a:t>
Bloqueante: descarta y escala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61688" y="4084320"/>
            <a:ext cx="710488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Prometía «lo he derivado a Calidad» sin registrar nada. La promesa quedaba vacía.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4559808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4760976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>
                <a:solidFill>
                  <a:srgbClr val="5D6663"/>
                </a:solidFill>
                <a:latin typeface="Helvetica Neue"/>
              </a:rPr>
              <a:t>Cualquiera de los cuatro puede </a:t>
            </a:r>
            <a:r>
              <a:rPr sz="1250" b="1">
                <a:solidFill>
                  <a:srgbClr val="15191A"/>
                </a:solidFill>
                <a:latin typeface="Helvetica Neue"/>
              </a:rPr>
              <a:t>descartar una respuesta ya redactada</a:t>
            </a:r>
            <a:r>
              <a:rPr sz="1250" b="0">
                <a:solidFill>
                  <a:srgbClr val="5D6663"/>
                </a:solidFill>
                <a:latin typeface="Helvetica Neue"/>
              </a:rPr>
              <a:t>. Esa es la diferencia entre un buscador y un asistente sobre documentación auditable.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ARQUITECTURA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USUARIO → CANAL → BOT → MODELO → RESPUESTA → ALMACENAMIENTO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07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41248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COMPONENTES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188720"/>
            <a:ext cx="11057839" cy="481888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1-arquitec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8242" y="1389888"/>
            <a:ext cx="4975210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" y="5660136"/>
            <a:ext cx="1054577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00" b="1">
                <a:solidFill>
                  <a:srgbClr val="15191A"/>
                </a:solidFill>
                <a:latin typeface="Helvetica Neue"/>
              </a:rPr>
              <a:t>Nada sale de la máquina.</a:t>
            </a:r>
            <a:r>
              <a:rPr sz="1000" b="0">
                <a:solidFill>
                  <a:srgbClr val="5D6663"/>
                </a:solidFill>
                <a:latin typeface="Helvetica Neue"/>
              </a:rPr>
              <a:t> El modelo corre en Ollama y los embeddings en local; PostgreSQL guarda documentos, cláusulas, conversaciones, hallazgos y la traza de auditoría.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ARQUITECTURA · FLUJO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ROJO: ESCALA · VERDE: RESPONDE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08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3444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FLUJO DE UNA CONSULTA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28216"/>
            <a:ext cx="11057839" cy="234784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2-flujo-consulta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1929384"/>
            <a:ext cx="10600639" cy="16894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" y="3728588"/>
            <a:ext cx="1054577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La pregunta se vectoriza y se buscan </a:t>
            </a:r>
            <a:r>
              <a:rPr sz="1000" b="1">
                <a:solidFill>
                  <a:srgbClr val="15191A"/>
                </a:solidFill>
                <a:latin typeface="Helvetica Neue"/>
              </a:rPr>
              <a:t>en paralelo</a:t>
            </a:r>
            <a:r>
              <a:rPr sz="1000" b="0">
                <a:solidFill>
                  <a:srgbClr val="5D6663"/>
                </a:solidFill>
                <a:latin typeface="Helvetica Neue"/>
              </a:rPr>
              <a:t> el FAQ y las cláusulas vigentes. Después, cuatro puntos de control: en cualquiera de ellos la respuesta se descarta y la consulta pasa a la cola de Calidad.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HERRAMIENTAS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STACK TECNOLÓGICO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09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41248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152144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Todo local, todo reproducible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889760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66928" y="1889760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CAPA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21408" y="1889760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ELECCIÓN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21808" y="1889760"/>
            <a:ext cx="6309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POR QUÉ ESA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127504"/>
            <a:ext cx="11057839" cy="1651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273808"/>
            <a:ext cx="138988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Modelo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21408" y="2273808"/>
            <a:ext cx="303580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950" b="0">
                <a:solidFill>
                  <a:srgbClr val="15191A"/>
                </a:solidFill>
                <a:latin typeface="Courier New"/>
              </a:rPr>
              <a:t>qwen3.8:27b-mlx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vía Ollama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21808" y="2273808"/>
            <a:ext cx="614476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Elegido por medición: acertó cláusula, sección, herramienta y escalación en el banco de pruebas.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621280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749296"/>
            <a:ext cx="138988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Embeddings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21408" y="2749296"/>
            <a:ext cx="303580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950" b="0">
                <a:solidFill>
                  <a:srgbClr val="15191A"/>
                </a:solidFill>
                <a:latin typeface="Courier New"/>
              </a:rPr>
              <a:t>BAAI/bge-m3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· 1024 dim.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21808" y="2749296"/>
            <a:ext cx="614476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Multilingüe y fuerte en español técnico.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096768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224784"/>
            <a:ext cx="138988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Base de datos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21408" y="3224784"/>
            <a:ext cx="303580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PostgreSQL 16 · pgvector · unaccent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21808" y="3224784"/>
            <a:ext cx="614476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Índice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HNSW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, no ivfflat: ivfflat entrena centroides sobre los datos ya cargados, y el índice se crea con la tabla vacía.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572256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3700272"/>
            <a:ext cx="138988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21408" y="3700272"/>
            <a:ext cx="303580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FastAPI · Python 3.12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21808" y="3700272"/>
            <a:ext cx="614476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29 módulos con responsabilidades separadas y 177 tests.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4047744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4175760"/>
            <a:ext cx="138988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Canal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21408" y="4175760"/>
            <a:ext cx="303580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Web Component · Shadow DOM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21808" y="4175760"/>
            <a:ext cx="614476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Una etiqueta y un &lt;script&gt;. Los estilos del sitio anfitrión no lo tocan.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523232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651248"/>
            <a:ext cx="138988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Entorno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21408" y="4651248"/>
            <a:ext cx="303580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950" b="0">
                <a:solidFill>
                  <a:srgbClr val="15191A"/>
                </a:solidFill>
                <a:latin typeface="Courier New"/>
              </a:rPr>
              <a:t>uv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· Docker Compose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21808" y="4651248"/>
            <a:ext cx="614476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Clonar, instalar, configurar .env, ejecutar.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4998720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FUENTE · TIPO · VOLUMEN · LIMPIEZA · VALIDACIÓN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10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229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DATOS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133856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De 132 PDFs a 1043 cláusulas consultables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944624"/>
            <a:ext cx="960120" cy="256032"/>
          </a:xfrm>
          <a:prstGeom prst="roundRect">
            <a:avLst/>
          </a:prstGeom>
          <a:solidFill>
            <a:srgbClr val="E3EEE8"/>
          </a:solidFill>
          <a:ln w="9525">
            <a:solidFill>
              <a:srgbClr val="1D5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28000"/>
              </a:lnSpc>
            </a:pPr>
            <a:r>
              <a:rPr sz="900" b="1" spc="130">
                <a:solidFill>
                  <a:srgbClr val="1D5C3C"/>
                </a:solidFill>
                <a:latin typeface="Helvetica Neue"/>
              </a:rPr>
              <a:t>LIMPIEZA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346960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Troceado por cláusula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, no por tamaño fijo: la unidad de sentido es la cláusula.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795016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Tablas extraídas preservando celda↔columna. Sin esto daba el «tiempo de solución» por el «de respuesta».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243072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Reparación de saltos del PDF: </a:t>
            </a:r>
            <a:r>
              <a:rPr sz="1050" b="0">
                <a:solidFill>
                  <a:srgbClr val="15191A"/>
                </a:solidFill>
                <a:latin typeface="Courier New"/>
              </a:rPr>
              <a:t>CAL-FO- 09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→ </a:t>
            </a:r>
            <a:r>
              <a:rPr sz="1050" b="0">
                <a:solidFill>
                  <a:srgbClr val="15191A"/>
                </a:solidFill>
                <a:latin typeface="Courier New"/>
              </a:rPr>
              <a:t>CAL-FO-09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3517392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Descarte de índices y membretes repetidos.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791712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Aviso cuando una cláusula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anuncia sin entregar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: el contenido está en una imagen.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87871" y="1944624"/>
            <a:ext cx="960120" cy="256032"/>
          </a:xfrm>
          <a:prstGeom prst="roundRect">
            <a:avLst/>
          </a:prstGeom>
          <a:solidFill>
            <a:srgbClr val="E3EEE8"/>
          </a:solidFill>
          <a:ln w="9525">
            <a:solidFill>
              <a:srgbClr val="1D5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28000"/>
              </a:lnSpc>
            </a:pPr>
            <a:r>
              <a:rPr sz="900" b="1" spc="130">
                <a:solidFill>
                  <a:srgbClr val="1D5C3C"/>
                </a:solidFill>
                <a:latin typeface="Helvetica Neue"/>
              </a:rPr>
              <a:t>VALIDACIÓN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0751" y="2346960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Cada PDF contrastado contra la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Lista Maestra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: de ahí salieron los seis hallazgos.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0751" y="2795016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FAQ desde las cláusulas: 489 procesadas →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730 entradas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, 14 descartadas y 9 duplicadas.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0751" y="3243072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Validación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determinista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, no juez LLM: un juez comparte los sesgos del generador.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0751" y="3691128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El FAQ es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fuente de recuperación, no caché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: la respuesta siempre pasa por los guardrails.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395216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El repositorio no incluye ni un solo documento del cliente.</a:t>
            </a:r>
            <a:r>
              <a:rPr sz="1250" b="0">
                <a:solidFill>
                  <a:srgbClr val="5D6663"/>
                </a:solidFill>
                <a:latin typeface="Helvetica Neue"/>
              </a:rPr>
              <a:t> Viaja con un SGC sintético de 6 documentos que imita la estructura real, para que cualquiera pueda ejecutarlo.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EN FUNCIONAMIENTO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FLUJO FELIZ · FUERA DE ALCANCE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11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229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DEMOSTRACIÓN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170432"/>
            <a:ext cx="5336895" cy="4315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i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7838" y="1335024"/>
            <a:ext cx="2395074" cy="35295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86384" y="4992624"/>
            <a:ext cx="489798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950" b="1">
                <a:solidFill>
                  <a:srgbClr val="15191A"/>
                </a:solidFill>
                <a:latin typeface="Helvetica Neue"/>
              </a:rPr>
              <a:t>Flujo feliz.</a:t>
            </a:r>
            <a:r>
              <a:rPr sz="950" b="0">
                <a:solidFill>
                  <a:srgbClr val="5D6663"/>
                </a:solidFill>
                <a:latin typeface="Helvetica Neue"/>
              </a:rPr>
              <a:t> El dato en negrita; debajo, la referencia con el título por delante y el código y la versión como respaldo.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7871" y="1170432"/>
            <a:ext cx="5336895" cy="4315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gu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8781" y="1335024"/>
            <a:ext cx="2395074" cy="35295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07327" y="4992624"/>
            <a:ext cx="489798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950" b="1">
                <a:solidFill>
                  <a:srgbClr val="15191A"/>
                </a:solidFill>
                <a:latin typeface="Helvetica Neue"/>
              </a:rPr>
              <a:t>Fuera de alcance.</a:t>
            </a:r>
            <a:r>
              <a:rPr sz="950" b="0">
                <a:solidFill>
                  <a:srgbClr val="5D6663"/>
                </a:solidFill>
                <a:latin typeface="Helvetica Neue"/>
              </a:rPr>
              <a:t> Tema ausente del SGC: no inventa, lo dice, deriva a Calidad y marca la respuesta como no verificada.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GRACIAS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12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6868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RESULTADOS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179576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Medido, no estimado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008632"/>
            <a:ext cx="3551834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191512"/>
            <a:ext cx="3112922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1D5C3C"/>
                </a:solidFill>
                <a:latin typeface="Courier New"/>
              </a:rPr>
              <a:t>11,1 s</a:t>
            </a:r>
          </a:p>
          <a:p>
            <a:pPr>
              <a:lnSpc>
                <a:spcPct val="120000"/>
              </a:lnSpc>
            </a:pPr>
            <a:r>
              <a:rPr sz="1150" b="1">
                <a:solidFill>
                  <a:srgbClr val="15191A"/>
                </a:solidFill>
                <a:latin typeface="Helvetica Neue"/>
              </a:rPr>
              <a:t>latencia mediana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Desde 18,0 s. La máxima bajó de 33,3 s a 20,0 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9930" y="2008632"/>
            <a:ext cx="3551834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39386" y="2191512"/>
            <a:ext cx="3112922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1D5C3C"/>
                </a:solidFill>
                <a:latin typeface="Courier New"/>
              </a:rPr>
              <a:t>12 min</a:t>
            </a:r>
          </a:p>
          <a:p>
            <a:pPr>
              <a:lnSpc>
                <a:spcPct val="120000"/>
              </a:lnSpc>
            </a:pPr>
            <a:r>
              <a:rPr sz="1150" b="1">
                <a:solidFill>
                  <a:srgbClr val="15191A"/>
                </a:solidFill>
                <a:latin typeface="Helvetica Neue"/>
              </a:rPr>
              <a:t>lo que costaba un cuelgue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Timeout 120 s con 2 reintentos. Ahora: 45 s sin reintento y cortacircuitos.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72932" y="2008632"/>
            <a:ext cx="3551834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2388" y="2191512"/>
            <a:ext cx="3112922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1D5C3C"/>
                </a:solidFill>
                <a:latin typeface="Courier New"/>
              </a:rPr>
              <a:t>177</a:t>
            </a:r>
          </a:p>
          <a:p>
            <a:pPr>
              <a:lnSpc>
                <a:spcPct val="120000"/>
              </a:lnSpc>
            </a:pPr>
            <a:r>
              <a:rPr sz="1150" b="1">
                <a:solidFill>
                  <a:srgbClr val="15191A"/>
                </a:solidFill>
                <a:latin typeface="Helvetica Neue"/>
              </a:rPr>
              <a:t>tests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Los del guardrail son la tesis: si pasan a rojo, NormIA deja de ser auditable.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73424"/>
            <a:ext cx="5428335" cy="11887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3956304"/>
            <a:ext cx="498942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Lo que queda fuera de Fase 1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WhatsApp, multi-tenant real y despliegue. El alcance se acotó para que lo entregado funcione de verdad.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6431" y="3773424"/>
            <a:ext cx="5428335" cy="11887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5887" y="3956304"/>
            <a:ext cx="498942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Repositorio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github.com/klauzirrazabal-max/normia-chatbot-iso — clonar, uv sync, .env, ejecutar.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3461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1" spc="60">
                <a:solidFill>
                  <a:srgbClr val="15191A"/>
                </a:solidFill>
                <a:latin typeface="Helvetica Neue"/>
              </a:rPr>
              <a:t>Klauz Alexander España Irrazabal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